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687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5" r:id="rId11"/>
  </p:sldIdLst>
  <p:sldSz cx="9144000" cy="6858000" type="screen4x3"/>
  <p:notesSz cx="7315200" cy="96012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/>
    </p:cSldViewPr>
  </p:slideViewPr>
  <p:outlineViewPr>
    <p:cViewPr>
      <p:scale>
        <a:sx n="33" d="100"/>
        <a:sy n="33" d="100"/>
      </p:scale>
      <p:origin x="0" y="-1349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Click to move the slide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E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E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41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s-E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s-E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42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s-ES" sz="1400" b="0" strike="noStrike" spc="-1">
                <a:latin typeface="Times New Roman"/>
              </a:defRPr>
            </a:lvl1pPr>
          </a:lstStyle>
          <a:p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3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s-E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9D078C49-E2A2-4DD7-95EF-396CE40A2D38}" type="slidenum">
              <a:rPr lang="es-ES" sz="1400" b="0" strike="noStrike" spc="-1">
                <a:latin typeface="Times New Roman"/>
              </a:rPr>
              <a:t>‹Nº›</a:t>
            </a:fld>
            <a:endParaRPr lang="es-E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Num" idx="10"/>
          </p:nvPr>
        </p:nvSpPr>
        <p:spPr>
          <a:xfrm>
            <a:off x="4145040" y="9120240"/>
            <a:ext cx="316980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GB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7D330BF7-6101-4D23-8CFD-C13B3406DB2B}" type="slidenum">
              <a:rPr lang="en-GB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s-ES" sz="1800" b="0" strike="noStrike" spc="-1">
              <a:latin typeface="Times New Roman"/>
            </a:endParaRPr>
          </a:p>
        </p:txBody>
      </p:sp>
      <p:sp>
        <p:nvSpPr>
          <p:cNvPr id="17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973080" y="4560840"/>
            <a:ext cx="536868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Num" idx="11"/>
          </p:nvPr>
        </p:nvSpPr>
        <p:spPr>
          <a:xfrm>
            <a:off x="4145040" y="9120240"/>
            <a:ext cx="316980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GB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6430F3F-6646-425A-98D3-ECF975B7B5B8}" type="slidenum">
              <a:rPr lang="en-GB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s-ES" sz="1800" b="0" strike="noStrike" spc="-1">
              <a:latin typeface="Times New Roman"/>
            </a:endParaRPr>
          </a:p>
        </p:txBody>
      </p:sp>
      <p:sp>
        <p:nvSpPr>
          <p:cNvPr id="17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973080" y="4560840"/>
            <a:ext cx="536868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Num" idx="12"/>
          </p:nvPr>
        </p:nvSpPr>
        <p:spPr>
          <a:xfrm>
            <a:off x="4145040" y="9120240"/>
            <a:ext cx="316980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GB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CE95D50F-B3EB-43BE-91D8-D3A90BCF8DC5}" type="slidenum">
              <a:rPr lang="en-GB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s-ES" sz="1800" b="0" strike="noStrike" spc="-1">
              <a:latin typeface="Times New Roman"/>
            </a:endParaRPr>
          </a:p>
        </p:txBody>
      </p:sp>
      <p:sp>
        <p:nvSpPr>
          <p:cNvPr id="17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973080" y="4560840"/>
            <a:ext cx="536868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Num" idx="13"/>
          </p:nvPr>
        </p:nvSpPr>
        <p:spPr>
          <a:xfrm>
            <a:off x="4145040" y="9120240"/>
            <a:ext cx="316980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GB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8C23399C-86BC-46D7-A20C-D7F81AF93C26}" type="slidenum">
              <a:rPr lang="en-GB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s-ES" sz="1800" b="0" strike="noStrike" spc="-1">
              <a:latin typeface="Times New Roman"/>
            </a:endParaRPr>
          </a:p>
        </p:txBody>
      </p:sp>
      <p:sp>
        <p:nvSpPr>
          <p:cNvPr id="18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973080" y="4560840"/>
            <a:ext cx="536868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Num" idx="14"/>
          </p:nvPr>
        </p:nvSpPr>
        <p:spPr>
          <a:xfrm>
            <a:off x="4145040" y="9120240"/>
            <a:ext cx="316980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GB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8D2B2CA-7721-430F-A093-07C3F413AF55}" type="slidenum">
              <a:rPr lang="en-GB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s-ES" sz="1800" b="0" strike="noStrike" spc="-1">
              <a:latin typeface="Times New Roman"/>
            </a:endParaRPr>
          </a:p>
        </p:txBody>
      </p:sp>
      <p:sp>
        <p:nvSpPr>
          <p:cNvPr id="18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973080" y="4560840"/>
            <a:ext cx="536868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Num" idx="15"/>
          </p:nvPr>
        </p:nvSpPr>
        <p:spPr>
          <a:xfrm>
            <a:off x="4145040" y="9120240"/>
            <a:ext cx="316980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GB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5BC430D-7519-4F66-8F23-7CA3816F83CA}" type="slidenum">
              <a:rPr lang="en-GB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s-ES" sz="1800" b="0" strike="noStrike" spc="-1">
              <a:latin typeface="Times New Roman"/>
            </a:endParaRPr>
          </a:p>
        </p:txBody>
      </p:sp>
      <p:sp>
        <p:nvSpPr>
          <p:cNvPr id="18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973080" y="4560840"/>
            <a:ext cx="536868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Num" idx="16"/>
          </p:nvPr>
        </p:nvSpPr>
        <p:spPr>
          <a:xfrm>
            <a:off x="4145040" y="9120240"/>
            <a:ext cx="316980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GB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05AEBA7-70FA-4ADD-91B0-82363C34B5A1}" type="slidenum">
              <a:rPr lang="en-GB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s-ES" sz="1800" b="0" strike="noStrike" spc="-1">
              <a:latin typeface="Times New Roman"/>
            </a:endParaRPr>
          </a:p>
        </p:txBody>
      </p:sp>
      <p:sp>
        <p:nvSpPr>
          <p:cNvPr id="19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973080" y="4560840"/>
            <a:ext cx="536868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Num" idx="16"/>
          </p:nvPr>
        </p:nvSpPr>
        <p:spPr>
          <a:xfrm>
            <a:off x="4145040" y="9120240"/>
            <a:ext cx="316980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GB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05AEBA7-70FA-4ADD-91B0-82363C34B5A1}" type="slidenum">
              <a:rPr lang="en-GB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s-ES" sz="1800" b="0" strike="noStrike" spc="-1">
              <a:latin typeface="Times New Roman"/>
            </a:endParaRPr>
          </a:p>
        </p:txBody>
      </p:sp>
      <p:sp>
        <p:nvSpPr>
          <p:cNvPr id="19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973080" y="4560840"/>
            <a:ext cx="536868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2189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Num" idx="19"/>
          </p:nvPr>
        </p:nvSpPr>
        <p:spPr>
          <a:xfrm>
            <a:off x="4145040" y="9120240"/>
            <a:ext cx="3169800" cy="48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GB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5107FFA4-9351-49B4-95DB-3B43A8D57E68}" type="slidenum">
              <a:rPr lang="en-GB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s-ES" sz="1800" b="0" strike="noStrike" spc="-1">
              <a:latin typeface="Times New Roman"/>
            </a:endParaRPr>
          </a:p>
        </p:txBody>
      </p:sp>
      <p:sp>
        <p:nvSpPr>
          <p:cNvPr id="19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973080" y="4560840"/>
            <a:ext cx="536868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4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42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868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42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2294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783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833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65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02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5413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160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945080" y="624240"/>
            <a:ext cx="65887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1942560" y="2133720"/>
            <a:ext cx="6591600" cy="377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E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7EBD1C6-F8DA-4361-A283-9E58D2205BC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7566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049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202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03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986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0998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5871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1750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033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839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28280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80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0C501A-B6DB-4243-9D52-5D2A8EFE3989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507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Century Gothic"/>
              </a:rPr>
              <a:t>&lt;date/time&gt;</a:t>
            </a:r>
            <a:endParaRPr lang="es-E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>
              <a:buNone/>
            </a:pPr>
            <a:r>
              <a:rPr lang="es-E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328CBD-6FBC-48B6-B9A3-1FC9E6386850}" type="slidenum">
              <a:rPr lang="en-US" sz="2000" b="0" strike="noStrike" spc="-1" smtClean="0">
                <a:solidFill>
                  <a:srgbClr val="FEFFFF"/>
                </a:solidFill>
                <a:latin typeface="Century Gothic"/>
              </a:rPr>
              <a:t>‹Nº›</a:t>
            </a:fld>
            <a:endParaRPr lang="es-ES" sz="20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494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3 CuadroTexto"/>
          <p:cNvSpPr/>
          <p:nvPr/>
        </p:nvSpPr>
        <p:spPr>
          <a:xfrm>
            <a:off x="1043820" y="1762714"/>
            <a:ext cx="7056360" cy="18144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endParaRPr lang="es-ES" sz="28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es-ES" sz="2800" b="0" strike="noStrike" spc="-1" dirty="0" err="1">
                <a:solidFill>
                  <a:srgbClr val="0070C0"/>
                </a:solidFill>
                <a:latin typeface="Century Gothic"/>
              </a:rPr>
              <a:t>Naive</a:t>
            </a:r>
            <a:r>
              <a:rPr lang="es-ES" sz="2800" b="0" strike="noStrike" spc="-1" dirty="0">
                <a:solidFill>
                  <a:srgbClr val="0070C0"/>
                </a:solidFill>
                <a:latin typeface="Century Gothic"/>
              </a:rPr>
              <a:t>-Bayes: implementación propia</a:t>
            </a:r>
            <a:endParaRPr lang="es-ES" sz="28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es-ES" sz="2800" b="0" strike="noStrike" spc="-1" dirty="0" err="1">
                <a:solidFill>
                  <a:srgbClr val="0070C0"/>
                </a:solidFill>
                <a:latin typeface="Century Gothic"/>
              </a:rPr>
              <a:t>Naive</a:t>
            </a:r>
            <a:r>
              <a:rPr lang="es-ES" sz="2800" b="0" strike="noStrike" spc="-1" dirty="0">
                <a:solidFill>
                  <a:srgbClr val="0070C0"/>
                </a:solidFill>
                <a:latin typeface="Century Gothic"/>
              </a:rPr>
              <a:t> Bayes: </a:t>
            </a:r>
            <a:r>
              <a:rPr lang="es-ES" sz="2800" b="0" strike="noStrike" spc="-1" dirty="0" err="1">
                <a:solidFill>
                  <a:srgbClr val="0070C0"/>
                </a:solidFill>
                <a:latin typeface="Century Gothic"/>
              </a:rPr>
              <a:t>Scikit-Learn</a:t>
            </a:r>
            <a:endParaRPr lang="es-ES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s-ES" sz="2800" b="0" strike="noStrike" spc="-1" dirty="0"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25897" y="706783"/>
            <a:ext cx="6912360" cy="566846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pc="-1" dirty="0">
                <a:solidFill>
                  <a:srgbClr val="000000"/>
                </a:solidFill>
                <a:latin typeface="Century Gothic"/>
              </a:rPr>
              <a:t>NAÏVE BAYES</a:t>
            </a:r>
            <a:endParaRPr lang="en-US" b="0" strike="noStrike" spc="-1" dirty="0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idx="4294967295"/>
          </p:nvPr>
        </p:nvSpPr>
        <p:spPr>
          <a:xfrm>
            <a:off x="468019" y="1235529"/>
            <a:ext cx="7920038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400" b="0" strike="noStrike" spc="-1" dirty="0">
                <a:solidFill>
                  <a:srgbClr val="404040"/>
                </a:solidFill>
                <a:latin typeface="Century Gothic"/>
              </a:rPr>
              <a:t>Implementar la clase </a:t>
            </a:r>
            <a:r>
              <a:rPr lang="es-ES" sz="2400" b="0" strike="noStrike" spc="-1" dirty="0" err="1">
                <a:solidFill>
                  <a:srgbClr val="404040"/>
                </a:solidFill>
                <a:latin typeface="Century Gothic"/>
              </a:rPr>
              <a:t>NaiveBayes</a:t>
            </a:r>
            <a:r>
              <a:rPr lang="es-ES" sz="2400" b="0" strike="noStrike" spc="-1" dirty="0">
                <a:solidFill>
                  <a:srgbClr val="404040"/>
                </a:solidFill>
                <a:latin typeface="Century Gothic"/>
              </a:rPr>
              <a:t>. Debe incluir al menos los métodos:</a:t>
            </a:r>
          </a:p>
          <a:p>
            <a:pPr lvl="1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" panose="05000000000000000000" pitchFamily="2" charset="2"/>
              <a:buChar char="q"/>
            </a:pPr>
            <a:r>
              <a:rPr lang="es-ES" sz="2000" spc="-1" dirty="0" err="1">
                <a:solidFill>
                  <a:srgbClr val="404040"/>
                </a:solidFill>
                <a:latin typeface="Century Gothic"/>
              </a:rPr>
              <a:t>fit</a:t>
            </a:r>
            <a:endParaRPr lang="es-ES" sz="2000" spc="-1" dirty="0">
              <a:solidFill>
                <a:srgbClr val="404040"/>
              </a:solidFill>
              <a:latin typeface="Century Gothic"/>
            </a:endParaRPr>
          </a:p>
          <a:p>
            <a:pPr lvl="1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" panose="05000000000000000000" pitchFamily="2" charset="2"/>
              <a:buChar char="q"/>
            </a:pPr>
            <a:r>
              <a:rPr lang="es-ES" sz="2000" spc="-1" dirty="0" err="1">
                <a:solidFill>
                  <a:srgbClr val="404040"/>
                </a:solidFill>
                <a:latin typeface="Century Gothic"/>
              </a:rPr>
              <a:t>predict</a:t>
            </a:r>
            <a:endParaRPr lang="es-ES" sz="2000" spc="-1" dirty="0">
              <a:solidFill>
                <a:srgbClr val="404040"/>
              </a:solidFill>
              <a:latin typeface="Century Gothic"/>
            </a:endParaRPr>
          </a:p>
          <a:p>
            <a:pPr lvl="1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" panose="05000000000000000000" pitchFamily="2" charset="2"/>
              <a:buChar char="q"/>
            </a:pPr>
            <a:r>
              <a:rPr lang="es-ES" sz="2000" spc="-1" dirty="0">
                <a:solidFill>
                  <a:srgbClr val="404040"/>
                </a:solidFill>
                <a:latin typeface="Century Gothic"/>
              </a:rPr>
              <a:t>score</a:t>
            </a:r>
          </a:p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endParaRPr lang="es-ES" sz="2400" spc="-1" dirty="0">
              <a:solidFill>
                <a:srgbClr val="404040"/>
              </a:solidFill>
              <a:latin typeface="Century Gothic"/>
            </a:endParaRPr>
          </a:p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endParaRPr lang="en-US" sz="2400" b="0" strike="noStrike" spc="-1" dirty="0">
              <a:solidFill>
                <a:srgbClr val="404040"/>
              </a:solidFill>
              <a:latin typeface="Century Gothic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strike="noStrike" spc="-1" dirty="0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47" name="Rectangle 3"/>
          <p:cNvSpPr/>
          <p:nvPr/>
        </p:nvSpPr>
        <p:spPr>
          <a:xfrm>
            <a:off x="468019" y="490239"/>
            <a:ext cx="8064000" cy="499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s-ES_tradnl" sz="2800" b="0" strike="noStrike" spc="-1" dirty="0">
                <a:solidFill>
                  <a:srgbClr val="766F54"/>
                </a:solidFill>
                <a:latin typeface="Tahoma"/>
              </a:rPr>
              <a:t>NB: IMPLEMENTACIÓN PROPIA</a:t>
            </a:r>
            <a:endParaRPr lang="es-ES" sz="2800" b="0" strike="noStrike" spc="-1" dirty="0">
              <a:latin typeface="Arial"/>
            </a:endParaRPr>
          </a:p>
        </p:txBody>
      </p:sp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B02FB51F-957E-7B36-CB9C-80B215211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572" y="2418668"/>
            <a:ext cx="3202441" cy="2779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idx="4294967295"/>
          </p:nvPr>
        </p:nvSpPr>
        <p:spPr>
          <a:xfrm>
            <a:off x="323056" y="1056903"/>
            <a:ext cx="8497887" cy="464721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_tradnl" sz="2200" b="0" strike="noStrike" spc="-1" dirty="0" err="1">
                <a:solidFill>
                  <a:srgbClr val="0070C0"/>
                </a:solidFill>
                <a:latin typeface="Century Gothic"/>
              </a:rPr>
              <a:t>Fit</a:t>
            </a:r>
            <a:r>
              <a:rPr lang="es-ES_tradnl" sz="2200" spc="-1" dirty="0">
                <a:solidFill>
                  <a:srgbClr val="0070C0"/>
                </a:solidFill>
                <a:latin typeface="Century Gothic"/>
              </a:rPr>
              <a:t>(</a:t>
            </a:r>
            <a:r>
              <a:rPr lang="es-ES_tradnl" sz="2200" spc="-1" dirty="0" err="1">
                <a:solidFill>
                  <a:srgbClr val="0070C0"/>
                </a:solidFill>
                <a:latin typeface="Century Gothic"/>
              </a:rPr>
              <a:t>X,y</a:t>
            </a:r>
            <a:r>
              <a:rPr lang="es-ES_tradnl" sz="2200" spc="-1" dirty="0">
                <a:solidFill>
                  <a:srgbClr val="0070C0"/>
                </a:solidFill>
                <a:latin typeface="Century Gothic"/>
              </a:rPr>
              <a:t>)</a:t>
            </a:r>
            <a:endParaRPr lang="en-US" sz="2200" b="0" strike="noStrike" spc="-1" dirty="0">
              <a:solidFill>
                <a:srgbClr val="0070C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Obtiene las diferentes probabilidades (a priori, verosimilitud) en función del conjunto de datos de </a:t>
            </a:r>
            <a:r>
              <a:rPr lang="es-ES" sz="2200" b="0" i="1" strike="noStrike" spc="-1" dirty="0" err="1">
                <a:solidFill>
                  <a:srgbClr val="404040"/>
                </a:solidFill>
                <a:latin typeface="Century Gothic"/>
              </a:rPr>
              <a:t>train</a:t>
            </a:r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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Calculamos las probabilidades a priori de cada valor de clase </a:t>
            </a:r>
            <a:r>
              <a:rPr lang="es-ES" sz="2200" b="1" strike="noStrike" spc="-1" dirty="0">
                <a:solidFill>
                  <a:srgbClr val="404040"/>
                </a:solidFill>
                <a:latin typeface="Century Gothic"/>
              </a:rPr>
              <a:t>P(c)</a:t>
            </a:r>
            <a:endParaRPr lang="en-US" sz="2200" b="1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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Calculamos las probabilidades condicionadas </a:t>
            </a:r>
            <a:r>
              <a:rPr lang="es-ES" sz="2200" b="1" strike="noStrike" spc="-1" dirty="0">
                <a:solidFill>
                  <a:srgbClr val="404040"/>
                </a:solidFill>
                <a:latin typeface="Century Gothic"/>
              </a:rPr>
              <a:t>P(</a:t>
            </a:r>
            <a:r>
              <a:rPr lang="es-ES" sz="2200" b="1" strike="noStrike" spc="-1" dirty="0" err="1">
                <a:solidFill>
                  <a:srgbClr val="404040"/>
                </a:solidFill>
                <a:latin typeface="Century Gothic"/>
              </a:rPr>
              <a:t>A</a:t>
            </a:r>
            <a:r>
              <a:rPr lang="es-ES" sz="2200" b="1" strike="noStrike" spc="-1" baseline="-25000" dirty="0" err="1">
                <a:solidFill>
                  <a:srgbClr val="404040"/>
                </a:solidFill>
                <a:latin typeface="Century Gothic"/>
              </a:rPr>
              <a:t>i</a:t>
            </a:r>
            <a:r>
              <a:rPr lang="es-ES" sz="2200" b="1" strike="noStrike" spc="-1" dirty="0" err="1">
                <a:solidFill>
                  <a:srgbClr val="404040"/>
                </a:solidFill>
                <a:latin typeface="Century Gothic"/>
              </a:rPr>
              <a:t>|c</a:t>
            </a:r>
            <a:r>
              <a:rPr lang="es-ES" sz="2200" b="1" strike="noStrike" spc="-1" dirty="0">
                <a:solidFill>
                  <a:srgbClr val="404040"/>
                </a:solidFill>
                <a:latin typeface="Century Gothic"/>
              </a:rPr>
              <a:t>)</a:t>
            </a:r>
            <a:endParaRPr lang="en-US" sz="2200" b="1" strike="noStrike" spc="-1" dirty="0">
              <a:solidFill>
                <a:srgbClr val="40404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Estructura de almacenamiento: libre, elegir la más conveniente desde los puntos de vista de la flexibilidad y la eficiencia</a:t>
            </a:r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Este conjunto de probabilidades constituye el </a:t>
            </a:r>
            <a:r>
              <a:rPr lang="es-ES" sz="2200" b="1" strike="noStrike" spc="-1" dirty="0">
                <a:solidFill>
                  <a:srgbClr val="404040"/>
                </a:solidFill>
                <a:latin typeface="Century Gothic"/>
              </a:rPr>
              <a:t>modelo</a:t>
            </a: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 derivado por el algoritmo</a:t>
            </a:r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49" name="Rectangle 3"/>
          <p:cNvSpPr/>
          <p:nvPr/>
        </p:nvSpPr>
        <p:spPr>
          <a:xfrm>
            <a:off x="540000" y="371478"/>
            <a:ext cx="8064000" cy="499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s-ES_tradnl" sz="2800" b="0" strike="noStrike" spc="-1" dirty="0">
                <a:solidFill>
                  <a:srgbClr val="766F54"/>
                </a:solidFill>
                <a:latin typeface="Tahoma"/>
              </a:rPr>
              <a:t>NB: IMPLEMENTACIÓN PROPIA</a:t>
            </a:r>
            <a:endParaRPr lang="es-E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idx="4294967295"/>
          </p:nvPr>
        </p:nvSpPr>
        <p:spPr>
          <a:xfrm>
            <a:off x="323850" y="1039771"/>
            <a:ext cx="8496300" cy="493648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00"/>
          </a:bodyPr>
          <a:lstStyle/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_tradnl" sz="2400" b="0" strike="noStrike" spc="-1" dirty="0" err="1">
                <a:solidFill>
                  <a:srgbClr val="0070C0"/>
                </a:solidFill>
                <a:latin typeface="Century Gothic"/>
              </a:rPr>
              <a:t>Fit</a:t>
            </a:r>
            <a:r>
              <a:rPr lang="es-ES_tradnl" sz="2400" b="0" strike="noStrike" spc="-1" dirty="0">
                <a:solidFill>
                  <a:srgbClr val="0070C0"/>
                </a:solidFill>
                <a:latin typeface="Century Gothic"/>
              </a:rPr>
              <a:t>(</a:t>
            </a:r>
            <a:r>
              <a:rPr lang="es-ES_tradnl" sz="2400" b="0" strike="noStrike" spc="-1" dirty="0" err="1">
                <a:solidFill>
                  <a:srgbClr val="0070C0"/>
                </a:solidFill>
                <a:latin typeface="Century Gothic"/>
              </a:rPr>
              <a:t>X,y</a:t>
            </a:r>
            <a:r>
              <a:rPr lang="es-ES_tradnl" sz="2400" b="0" strike="noStrike" spc="-1" dirty="0">
                <a:solidFill>
                  <a:srgbClr val="0070C0"/>
                </a:solidFill>
                <a:latin typeface="Century Gothic"/>
              </a:rPr>
              <a:t>)</a:t>
            </a:r>
            <a:endParaRPr lang="en-US" sz="2400" b="0" strike="noStrike" spc="-1" dirty="0">
              <a:solidFill>
                <a:srgbClr val="0070C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400" b="1" strike="noStrike" spc="-1" dirty="0">
                <a:solidFill>
                  <a:srgbClr val="404040"/>
                </a:solidFill>
                <a:latin typeface="Century Gothic"/>
              </a:rPr>
              <a:t>Atributos nominales: </a:t>
            </a:r>
            <a:endParaRPr lang="en-US" sz="24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"/>
            </a:pPr>
            <a:r>
              <a:rPr lang="es-ES" sz="2400" b="0" strike="noStrike" spc="-1" dirty="0">
                <a:solidFill>
                  <a:srgbClr val="404040"/>
                </a:solidFill>
                <a:latin typeface="Century Gothic"/>
              </a:rPr>
              <a:t>El cálculo de probabilidades se basa en contar las frecuencias de aparición en el </a:t>
            </a:r>
            <a:r>
              <a:rPr lang="es-ES" sz="2400" b="0" strike="noStrike" spc="-1" dirty="0" err="1">
                <a:solidFill>
                  <a:srgbClr val="404040"/>
                </a:solidFill>
                <a:latin typeface="Century Gothic"/>
              </a:rPr>
              <a:t>dataset</a:t>
            </a:r>
            <a:r>
              <a:rPr lang="es-ES" sz="2400" b="0" strike="noStrike" spc="-1" dirty="0">
                <a:solidFill>
                  <a:srgbClr val="404040"/>
                </a:solidFill>
                <a:latin typeface="Century Gothic"/>
              </a:rPr>
              <a:t> de </a:t>
            </a:r>
            <a:r>
              <a:rPr lang="es-ES" sz="2400" b="0" strike="noStrike" spc="-1" dirty="0" err="1">
                <a:solidFill>
                  <a:srgbClr val="404040"/>
                </a:solidFill>
                <a:latin typeface="Century Gothic"/>
              </a:rPr>
              <a:t>train</a:t>
            </a:r>
            <a:r>
              <a:rPr lang="es-ES" sz="2400" b="0" strike="noStrike" spc="-1" dirty="0">
                <a:solidFill>
                  <a:srgbClr val="404040"/>
                </a:solidFill>
                <a:latin typeface="Century Gothic"/>
              </a:rPr>
              <a:t>. La probabilidad resulta de la relación entre casos favorables y casos totales por cada valor de clase.</a:t>
            </a:r>
          </a:p>
          <a:p>
            <a:pPr marL="2286000" lvl="5" indent="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None/>
            </a:pPr>
            <a:r>
              <a:rPr lang="es-ES" sz="2400" b="1" strike="noStrike" spc="-1" dirty="0">
                <a:solidFill>
                  <a:srgbClr val="404040"/>
                </a:solidFill>
                <a:latin typeface="Century Gothic"/>
              </a:rPr>
              <a:t>P(</a:t>
            </a:r>
            <a:r>
              <a:rPr lang="es-ES" sz="2400" b="1" strike="noStrike" spc="-1" dirty="0" err="1">
                <a:solidFill>
                  <a:srgbClr val="404040"/>
                </a:solidFill>
                <a:latin typeface="Century Gothic"/>
              </a:rPr>
              <a:t>A</a:t>
            </a:r>
            <a:r>
              <a:rPr lang="es-ES" sz="2400" b="1" strike="noStrike" spc="-1" baseline="-25000" dirty="0" err="1">
                <a:solidFill>
                  <a:srgbClr val="404040"/>
                </a:solidFill>
                <a:latin typeface="Century Gothic"/>
              </a:rPr>
              <a:t>i</a:t>
            </a:r>
            <a:r>
              <a:rPr lang="es-ES" sz="2400" b="1" strike="noStrike" spc="-1" dirty="0" err="1">
                <a:solidFill>
                  <a:srgbClr val="404040"/>
                </a:solidFill>
                <a:latin typeface="Century Gothic"/>
              </a:rPr>
              <a:t>|c</a:t>
            </a:r>
            <a:r>
              <a:rPr lang="es-ES" sz="2400" b="1" strike="noStrike" spc="-1" dirty="0">
                <a:solidFill>
                  <a:srgbClr val="404040"/>
                </a:solidFill>
                <a:latin typeface="Century Gothic"/>
              </a:rPr>
              <a:t>) </a:t>
            </a:r>
            <a:r>
              <a:rPr lang="el-GR" sz="2400" b="1" strike="noStrike" spc="-1" dirty="0">
                <a:solidFill>
                  <a:srgbClr val="404040"/>
                </a:solidFill>
                <a:latin typeface="Century Gothic"/>
              </a:rPr>
              <a:t>≡</a:t>
            </a:r>
            <a:r>
              <a:rPr lang="es-ES" sz="2400" b="1" strike="noStrike" spc="-1" dirty="0">
                <a:solidFill>
                  <a:srgbClr val="404040"/>
                </a:solidFill>
                <a:latin typeface="Century Gothic"/>
              </a:rPr>
              <a:t> N</a:t>
            </a:r>
            <a:r>
              <a:rPr lang="es-ES" sz="2400" b="1" strike="noStrike" spc="-1" baseline="-25000" dirty="0">
                <a:solidFill>
                  <a:srgbClr val="404040"/>
                </a:solidFill>
                <a:latin typeface="Century Gothic"/>
              </a:rPr>
              <a:t>i</a:t>
            </a:r>
            <a:r>
              <a:rPr lang="es-ES" sz="2400" b="1" strike="noStrike" spc="-1" dirty="0">
                <a:solidFill>
                  <a:srgbClr val="404040"/>
                </a:solidFill>
                <a:latin typeface="Century Gothic"/>
              </a:rPr>
              <a:t> / </a:t>
            </a:r>
            <a:r>
              <a:rPr lang="es-ES" sz="2400" b="1" strike="noStrike" spc="-1" dirty="0" err="1">
                <a:solidFill>
                  <a:srgbClr val="404040"/>
                </a:solidFill>
                <a:latin typeface="Century Gothic"/>
              </a:rPr>
              <a:t>N</a:t>
            </a:r>
            <a:r>
              <a:rPr lang="es-ES" sz="2400" b="1" strike="noStrike" spc="-1" baseline="-25000" dirty="0" err="1">
                <a:solidFill>
                  <a:srgbClr val="404040"/>
                </a:solidFill>
                <a:latin typeface="Century Gothic"/>
              </a:rPr>
              <a:t>total</a:t>
            </a:r>
            <a:r>
              <a:rPr lang="es-ES" sz="2400" b="1" strike="noStrike" spc="-1" dirty="0">
                <a:solidFill>
                  <a:srgbClr val="404040"/>
                </a:solidFill>
                <a:latin typeface="Century Gothic"/>
              </a:rPr>
              <a:t>    i=1..k</a:t>
            </a:r>
            <a:endParaRPr lang="en-US" sz="2400" b="1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"/>
            </a:pPr>
            <a:r>
              <a:rPr lang="es-ES" sz="2400" b="0" i="1" strike="noStrike" spc="-1" dirty="0">
                <a:solidFill>
                  <a:srgbClr val="404040"/>
                </a:solidFill>
                <a:latin typeface="Century Gothic"/>
              </a:rPr>
              <a:t>PROBLEMA</a:t>
            </a:r>
            <a:r>
              <a:rPr lang="es-ES" sz="2400" b="0" strike="noStrike" spc="-1" dirty="0">
                <a:solidFill>
                  <a:srgbClr val="404040"/>
                </a:solidFill>
                <a:latin typeface="Century Gothic"/>
              </a:rPr>
              <a:t>: Se necesitan muestras de gran tamaño, en caso contrario se pueden obtener muchas probabilidades de valor cero (cuando una configuración no está presente en el </a:t>
            </a:r>
            <a:r>
              <a:rPr lang="es-ES" sz="2400" b="0" strike="noStrike" spc="-1" dirty="0" err="1">
                <a:solidFill>
                  <a:srgbClr val="404040"/>
                </a:solidFill>
                <a:latin typeface="Century Gothic"/>
              </a:rPr>
              <a:t>dataset</a:t>
            </a:r>
            <a:r>
              <a:rPr lang="es-ES" sz="2400" b="0" strike="noStrike" spc="-1" dirty="0">
                <a:solidFill>
                  <a:srgbClr val="404040"/>
                </a:solidFill>
                <a:latin typeface="Century Gothic"/>
              </a:rPr>
              <a:t>)</a:t>
            </a:r>
            <a:endParaRPr lang="en-US" sz="24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"/>
            </a:pPr>
            <a:r>
              <a:rPr lang="es-ES" sz="2400" b="0" i="1" strike="noStrike" spc="-1" dirty="0">
                <a:solidFill>
                  <a:srgbClr val="404040"/>
                </a:solidFill>
                <a:latin typeface="Century Gothic"/>
              </a:rPr>
              <a:t>UNA SOLUCIÓN</a:t>
            </a:r>
            <a:r>
              <a:rPr lang="es-ES" sz="2400" b="0" strike="noStrike" spc="-1" dirty="0">
                <a:solidFill>
                  <a:srgbClr val="404040"/>
                </a:solidFill>
                <a:latin typeface="Century Gothic"/>
              </a:rPr>
              <a:t>: Aplicar la corrección de Laplace</a:t>
            </a:r>
            <a:endParaRPr lang="en-US" sz="2400" b="0" strike="noStrike" spc="-1" dirty="0">
              <a:solidFill>
                <a:srgbClr val="404040"/>
              </a:solidFill>
              <a:latin typeface="Century Gothic"/>
            </a:endParaRPr>
          </a:p>
          <a:p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</a:pPr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BBF8AE6-3D3F-F740-1184-7B3031314AE7}"/>
              </a:ext>
            </a:extLst>
          </p:cNvPr>
          <p:cNvSpPr/>
          <p:nvPr/>
        </p:nvSpPr>
        <p:spPr>
          <a:xfrm>
            <a:off x="540000" y="371478"/>
            <a:ext cx="8064000" cy="499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s-ES_tradnl" sz="2800" b="0" strike="noStrike" spc="-1" dirty="0">
                <a:solidFill>
                  <a:srgbClr val="766F54"/>
                </a:solidFill>
                <a:latin typeface="Tahoma"/>
              </a:rPr>
              <a:t>NB: IMPLEMENTACIÓN PROPIA</a:t>
            </a:r>
            <a:endParaRPr lang="es-E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idx="4294967295"/>
          </p:nvPr>
        </p:nvSpPr>
        <p:spPr>
          <a:xfrm>
            <a:off x="323850" y="1004949"/>
            <a:ext cx="8496300" cy="417863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000" lnSpcReduction="20000"/>
          </a:bodyPr>
          <a:lstStyle/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_tradnl" sz="3100" spc="-1" dirty="0" err="1">
                <a:solidFill>
                  <a:srgbClr val="0070C0"/>
                </a:solidFill>
                <a:latin typeface="Century Gothic"/>
              </a:rPr>
              <a:t>Fit</a:t>
            </a:r>
            <a:r>
              <a:rPr lang="es-ES_tradnl" sz="3100" spc="-1" dirty="0">
                <a:solidFill>
                  <a:srgbClr val="0070C0"/>
                </a:solidFill>
                <a:latin typeface="Century Gothic"/>
              </a:rPr>
              <a:t>(</a:t>
            </a:r>
            <a:r>
              <a:rPr lang="es-ES_tradnl" sz="3100" spc="-1" dirty="0" err="1">
                <a:solidFill>
                  <a:srgbClr val="0070C0"/>
                </a:solidFill>
                <a:latin typeface="Century Gothic"/>
              </a:rPr>
              <a:t>X,y</a:t>
            </a:r>
            <a:r>
              <a:rPr lang="es-ES_tradnl" sz="3100" spc="-1" dirty="0">
                <a:solidFill>
                  <a:srgbClr val="0070C0"/>
                </a:solidFill>
                <a:latin typeface="Century Gothic"/>
              </a:rPr>
              <a:t>)</a:t>
            </a:r>
            <a:endParaRPr lang="en-US" sz="3100" b="0" strike="noStrike" spc="-1" dirty="0">
              <a:solidFill>
                <a:srgbClr val="0070C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3100" b="1" strike="noStrike" spc="-1" dirty="0">
                <a:solidFill>
                  <a:srgbClr val="404040"/>
                </a:solidFill>
                <a:latin typeface="Century Gothic"/>
              </a:rPr>
              <a:t>Atributos continuos: </a:t>
            </a:r>
            <a:endParaRPr lang="en-US" sz="31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"/>
            </a:pPr>
            <a:r>
              <a:rPr lang="es-ES" sz="3100" b="0" strike="noStrike" spc="-1" dirty="0">
                <a:solidFill>
                  <a:srgbClr val="404040"/>
                </a:solidFill>
                <a:latin typeface="Century Gothic"/>
              </a:rPr>
              <a:t>En este caso NB supone que el atributo sigue una distribución normal</a:t>
            </a:r>
            <a:endParaRPr lang="en-US" sz="31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indent="-22860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3100" b="1" strike="noStrike" spc="-1" dirty="0">
                <a:solidFill>
                  <a:srgbClr val="404040"/>
                </a:solidFill>
                <a:latin typeface="Century Gothic"/>
              </a:rPr>
              <a:t>P(</a:t>
            </a:r>
            <a:r>
              <a:rPr lang="es-ES" sz="3100" b="1" strike="noStrike" spc="-1" dirty="0" err="1">
                <a:solidFill>
                  <a:srgbClr val="404040"/>
                </a:solidFill>
                <a:latin typeface="Century Gothic"/>
              </a:rPr>
              <a:t>A</a:t>
            </a:r>
            <a:r>
              <a:rPr lang="es-ES" sz="3100" b="1" strike="noStrike" spc="-1" baseline="-25000" dirty="0" err="1">
                <a:solidFill>
                  <a:srgbClr val="404040"/>
                </a:solidFill>
                <a:latin typeface="Century Gothic"/>
              </a:rPr>
              <a:t>i</a:t>
            </a:r>
            <a:r>
              <a:rPr lang="es-ES" sz="3100" b="1" strike="noStrike" spc="-1" dirty="0" err="1">
                <a:solidFill>
                  <a:srgbClr val="404040"/>
                </a:solidFill>
                <a:latin typeface="Century Gothic"/>
              </a:rPr>
              <a:t>|c</a:t>
            </a:r>
            <a:r>
              <a:rPr lang="es-ES" sz="3100" b="1" strike="noStrike" spc="-1" dirty="0">
                <a:solidFill>
                  <a:srgbClr val="404040"/>
                </a:solidFill>
                <a:latin typeface="Century Gothic"/>
              </a:rPr>
              <a:t>) </a:t>
            </a:r>
            <a:r>
              <a:rPr lang="el-GR" sz="3100" b="1" strike="noStrike" spc="-1" dirty="0">
                <a:solidFill>
                  <a:srgbClr val="404040"/>
                </a:solidFill>
                <a:latin typeface="Century Gothic"/>
              </a:rPr>
              <a:t>≡</a:t>
            </a:r>
            <a:r>
              <a:rPr lang="es-ES" sz="3100" b="1" strike="noStrike" spc="-1" dirty="0">
                <a:solidFill>
                  <a:srgbClr val="404040"/>
                </a:solidFill>
                <a:latin typeface="Century Gothic"/>
              </a:rPr>
              <a:t> N(µ,</a:t>
            </a:r>
            <a:r>
              <a:rPr lang="el-GR" sz="3100" b="1" strike="noStrike" spc="-1" dirty="0">
                <a:solidFill>
                  <a:srgbClr val="404040"/>
                </a:solidFill>
                <a:latin typeface="Century Gothic"/>
              </a:rPr>
              <a:t>σ</a:t>
            </a:r>
            <a:r>
              <a:rPr lang="es-ES" sz="3100" b="1" strike="noStrike" spc="-1" dirty="0">
                <a:solidFill>
                  <a:srgbClr val="404040"/>
                </a:solidFill>
                <a:latin typeface="Century Gothic"/>
              </a:rPr>
              <a:t>)</a:t>
            </a:r>
            <a:endParaRPr lang="en-US" sz="3100" b="1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s-ES" sz="3100" b="0" strike="noStrike" spc="-1" dirty="0">
                <a:solidFill>
                  <a:srgbClr val="404040"/>
                </a:solidFill>
                <a:latin typeface="Century Gothic"/>
              </a:rPr>
              <a:t>En </a:t>
            </a:r>
            <a:r>
              <a:rPr lang="es-ES" sz="3100" b="0" strike="noStrike" spc="-1" dirty="0" err="1">
                <a:solidFill>
                  <a:srgbClr val="404040"/>
                </a:solidFill>
                <a:latin typeface="Century Gothic"/>
              </a:rPr>
              <a:t>fit</a:t>
            </a:r>
            <a:r>
              <a:rPr lang="es-ES" sz="3100" b="0" strike="noStrike" spc="-1" dirty="0">
                <a:solidFill>
                  <a:srgbClr val="404040"/>
                </a:solidFill>
                <a:latin typeface="Century Gothic"/>
              </a:rPr>
              <a:t> solo necesitamos calcular la media (µ) y la desviación típica (</a:t>
            </a:r>
            <a:r>
              <a:rPr lang="el-GR" sz="3100" b="0" strike="noStrike" spc="-1" dirty="0">
                <a:solidFill>
                  <a:srgbClr val="404040"/>
                </a:solidFill>
                <a:latin typeface="Century Gothic"/>
              </a:rPr>
              <a:t>σ</a:t>
            </a:r>
            <a:r>
              <a:rPr lang="es-ES" sz="3100" b="0" strike="noStrike" spc="-1" dirty="0">
                <a:solidFill>
                  <a:srgbClr val="404040"/>
                </a:solidFill>
                <a:latin typeface="Century Gothic"/>
              </a:rPr>
              <a:t>) condicionadas a cada valor de la clase</a:t>
            </a:r>
            <a:endParaRPr lang="en-US" sz="31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s-ES" sz="3100" b="0" strike="noStrike" spc="-1" dirty="0">
                <a:solidFill>
                  <a:srgbClr val="404040"/>
                </a:solidFill>
                <a:latin typeface="Century Gothic"/>
              </a:rPr>
              <a:t>Se calcularán tantas medias/desviaciones como atributos continuos tenga el </a:t>
            </a:r>
            <a:r>
              <a:rPr lang="es-ES" sz="3100" b="0" strike="noStrike" spc="-1" dirty="0" err="1">
                <a:solidFill>
                  <a:srgbClr val="404040"/>
                </a:solidFill>
                <a:latin typeface="Century Gothic"/>
              </a:rPr>
              <a:t>dataset</a:t>
            </a:r>
            <a:r>
              <a:rPr lang="es-ES" sz="3100" b="0" strike="noStrike" spc="-1" dirty="0">
                <a:solidFill>
                  <a:srgbClr val="404040"/>
                </a:solidFill>
                <a:latin typeface="Century Gothic"/>
              </a:rPr>
              <a:t> de </a:t>
            </a:r>
            <a:r>
              <a:rPr lang="es-ES" sz="3100" b="0" strike="noStrike" spc="-1" dirty="0" err="1">
                <a:solidFill>
                  <a:srgbClr val="404040"/>
                </a:solidFill>
                <a:latin typeface="Century Gothic"/>
              </a:rPr>
              <a:t>train</a:t>
            </a:r>
            <a:endParaRPr lang="en-US" sz="31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s-ES" sz="3100" b="0" i="1" strike="noStrike" spc="-1" dirty="0">
                <a:solidFill>
                  <a:srgbClr val="404040"/>
                </a:solidFill>
                <a:latin typeface="Century Gothic"/>
              </a:rPr>
              <a:t>INCONVENIENTE</a:t>
            </a:r>
            <a:r>
              <a:rPr lang="es-ES" sz="3100" b="0" strike="noStrike" spc="-1" dirty="0">
                <a:solidFill>
                  <a:srgbClr val="404040"/>
                </a:solidFill>
                <a:latin typeface="Century Gothic"/>
              </a:rPr>
              <a:t>: Los datos podrían no seguir realmente una distribución normal</a:t>
            </a:r>
            <a:endParaRPr lang="en-US" sz="3100" b="0" strike="noStrike" spc="-1" dirty="0">
              <a:solidFill>
                <a:srgbClr val="404040"/>
              </a:solidFill>
              <a:latin typeface="Century Gothic"/>
            </a:endParaRPr>
          </a:p>
          <a:p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1D14DD1-C90D-E17E-516B-C77DB9A967C0}"/>
              </a:ext>
            </a:extLst>
          </p:cNvPr>
          <p:cNvSpPr/>
          <p:nvPr/>
        </p:nvSpPr>
        <p:spPr>
          <a:xfrm>
            <a:off x="540000" y="371478"/>
            <a:ext cx="8064000" cy="499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s-ES_tradnl" sz="2800" b="0" strike="noStrike" spc="-1" dirty="0">
                <a:solidFill>
                  <a:srgbClr val="766F54"/>
                </a:solidFill>
                <a:latin typeface="Tahoma"/>
              </a:rPr>
              <a:t>NB: IMPLEMENTACIÓN PROPIA</a:t>
            </a:r>
            <a:endParaRPr lang="es-E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idx="4294967295"/>
          </p:nvPr>
        </p:nvSpPr>
        <p:spPr>
          <a:xfrm>
            <a:off x="323850" y="1014043"/>
            <a:ext cx="8496300" cy="3371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_tradnl" sz="2200" b="0" strike="noStrike" spc="-1" dirty="0" err="1">
                <a:solidFill>
                  <a:srgbClr val="0070C0"/>
                </a:solidFill>
                <a:latin typeface="Century Gothic"/>
              </a:rPr>
              <a:t>Predict</a:t>
            </a:r>
            <a:r>
              <a:rPr lang="es-ES_tradnl" sz="2200" b="0" strike="noStrike" spc="-1" dirty="0">
                <a:solidFill>
                  <a:srgbClr val="0070C0"/>
                </a:solidFill>
                <a:latin typeface="Century Gothic"/>
              </a:rPr>
              <a:t>(X)</a:t>
            </a:r>
            <a:endParaRPr lang="en-US" sz="2200" b="0" strike="noStrike" spc="-1" dirty="0">
              <a:solidFill>
                <a:srgbClr val="0070C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Trabaja sobre el </a:t>
            </a:r>
            <a:r>
              <a:rPr lang="es-ES" sz="2200" b="0" strike="noStrike" spc="-1" dirty="0" err="1">
                <a:solidFill>
                  <a:srgbClr val="404040"/>
                </a:solidFill>
                <a:latin typeface="Century Gothic"/>
              </a:rPr>
              <a:t>dataset</a:t>
            </a: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 de test</a:t>
            </a:r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Calcula la clase más plausible, es decir, el valor de clase con máxima probabilidad a posteriori:</a:t>
            </a:r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743040" indent="-28584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200" b="1" strike="noStrike" spc="-1" dirty="0" err="1">
                <a:solidFill>
                  <a:srgbClr val="404040"/>
                </a:solidFill>
                <a:latin typeface="Century Gothic"/>
              </a:rPr>
              <a:t>c</a:t>
            </a:r>
            <a:r>
              <a:rPr lang="es-ES" sz="2200" b="1" strike="noStrike" spc="-1" baseline="-25000" dirty="0" err="1">
                <a:solidFill>
                  <a:srgbClr val="404040"/>
                </a:solidFill>
                <a:latin typeface="Century Gothic"/>
              </a:rPr>
              <a:t>MPA</a:t>
            </a:r>
            <a:r>
              <a:rPr lang="es-ES" sz="2200" b="1" strike="noStrike" spc="-1" dirty="0">
                <a:solidFill>
                  <a:srgbClr val="404040"/>
                </a:solidFill>
                <a:latin typeface="Century Gothic"/>
              </a:rPr>
              <a:t> = </a:t>
            </a:r>
            <a:r>
              <a:rPr lang="es-ES" sz="2200" b="1" strike="noStrike" spc="-1" dirty="0" err="1">
                <a:solidFill>
                  <a:srgbClr val="404040"/>
                </a:solidFill>
                <a:latin typeface="Century Gothic"/>
              </a:rPr>
              <a:t>argmax</a:t>
            </a:r>
            <a:r>
              <a:rPr lang="es-ES" sz="2200" b="1" strike="noStrike" spc="-1" dirty="0">
                <a:solidFill>
                  <a:srgbClr val="404040"/>
                </a:solidFill>
                <a:latin typeface="Century Gothic"/>
              </a:rPr>
              <a:t> </a:t>
            </a:r>
            <a:r>
              <a:rPr lang="es-ES" sz="2200" b="1" strike="noStrike" spc="-1" baseline="-25000" dirty="0">
                <a:solidFill>
                  <a:srgbClr val="404040"/>
                </a:solidFill>
                <a:latin typeface="Century Gothic"/>
              </a:rPr>
              <a:t>c</a:t>
            </a:r>
            <a:r>
              <a:rPr lang="el-GR" sz="2200" b="1" strike="noStrike" spc="-1" baseline="-25000" dirty="0">
                <a:solidFill>
                  <a:srgbClr val="404040"/>
                </a:solidFill>
                <a:latin typeface="Century Gothic"/>
              </a:rPr>
              <a:t>εΩ</a:t>
            </a:r>
            <a:r>
              <a:rPr lang="es-ES" sz="2200" b="1" strike="noStrike" spc="-1" dirty="0">
                <a:solidFill>
                  <a:srgbClr val="404040"/>
                </a:solidFill>
                <a:latin typeface="Century Gothic"/>
              </a:rPr>
              <a:t> P(c)∏</a:t>
            </a:r>
            <a:r>
              <a:rPr lang="es-ES" sz="2200" b="1" strike="noStrike" spc="-1" baseline="-25000" dirty="0">
                <a:solidFill>
                  <a:srgbClr val="404040"/>
                </a:solidFill>
                <a:latin typeface="Century Gothic"/>
              </a:rPr>
              <a:t>i=1</a:t>
            </a:r>
            <a:r>
              <a:rPr lang="es-ES" sz="2200" b="1" strike="noStrike" spc="-1" dirty="0">
                <a:solidFill>
                  <a:srgbClr val="404040"/>
                </a:solidFill>
                <a:latin typeface="Century Gothic"/>
              </a:rPr>
              <a:t> P(</a:t>
            </a:r>
            <a:r>
              <a:rPr lang="es-ES" sz="2200" b="1" strike="noStrike" spc="-1" dirty="0" err="1">
                <a:solidFill>
                  <a:srgbClr val="404040"/>
                </a:solidFill>
                <a:latin typeface="Century Gothic"/>
              </a:rPr>
              <a:t>A</a:t>
            </a:r>
            <a:r>
              <a:rPr lang="es-ES" sz="2200" b="1" strike="noStrike" spc="-1" baseline="-25000" dirty="0" err="1">
                <a:solidFill>
                  <a:srgbClr val="404040"/>
                </a:solidFill>
                <a:latin typeface="Century Gothic"/>
              </a:rPr>
              <a:t>i</a:t>
            </a:r>
            <a:r>
              <a:rPr lang="es-ES" sz="2200" b="1" strike="noStrike" spc="-1" dirty="0" err="1">
                <a:solidFill>
                  <a:srgbClr val="404040"/>
                </a:solidFill>
                <a:latin typeface="Century Gothic"/>
              </a:rPr>
              <a:t>|c</a:t>
            </a:r>
            <a:r>
              <a:rPr lang="es-ES" sz="2200" b="1" strike="noStrike" spc="-1" dirty="0">
                <a:solidFill>
                  <a:srgbClr val="404040"/>
                </a:solidFill>
                <a:latin typeface="Century Gothic"/>
              </a:rPr>
              <a:t>)</a:t>
            </a:r>
            <a:endParaRPr lang="en-US" sz="2200" b="1" strike="noStrike" spc="-1" dirty="0">
              <a:solidFill>
                <a:srgbClr val="40404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Para aplicar P(</a:t>
            </a:r>
            <a:r>
              <a:rPr lang="es-ES" sz="2200" b="0" strike="noStrike" spc="-1" dirty="0" err="1">
                <a:solidFill>
                  <a:srgbClr val="404040"/>
                </a:solidFill>
                <a:latin typeface="Century Gothic"/>
              </a:rPr>
              <a:t>A</a:t>
            </a:r>
            <a:r>
              <a:rPr lang="es-ES" sz="2200" b="0" strike="noStrike" spc="-1" baseline="-25000" dirty="0" err="1">
                <a:solidFill>
                  <a:srgbClr val="404040"/>
                </a:solidFill>
                <a:latin typeface="Century Gothic"/>
              </a:rPr>
              <a:t>i</a:t>
            </a:r>
            <a:r>
              <a:rPr lang="es-ES" sz="2200" b="0" strike="noStrike" spc="-1" dirty="0" err="1">
                <a:solidFill>
                  <a:srgbClr val="404040"/>
                </a:solidFill>
                <a:latin typeface="Century Gothic"/>
              </a:rPr>
              <a:t>|c</a:t>
            </a: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) en atributos continuos, usamos la expresión de la distribución normal, sustituyendo el valor del atributo en la instancia de test (x) y la media (µ) y la desviación típica (</a:t>
            </a:r>
            <a:r>
              <a:rPr lang="el-GR" sz="2200" b="0" strike="noStrike" spc="-1" dirty="0">
                <a:solidFill>
                  <a:srgbClr val="404040"/>
                </a:solidFill>
                <a:latin typeface="Century Gothic"/>
              </a:rPr>
              <a:t>σ</a:t>
            </a: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) calculadas durante el entrenamiento.</a:t>
            </a:r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  <a:p>
            <a:endParaRPr lang="en-US" sz="2200" b="0" strike="noStrike" spc="-1" dirty="0">
              <a:solidFill>
                <a:srgbClr val="404040"/>
              </a:solidFill>
              <a:latin typeface="Century Gothic"/>
            </a:endParaRPr>
          </a:p>
        </p:txBody>
      </p:sp>
      <p:pic>
        <p:nvPicPr>
          <p:cNvPr id="156" name="Picture 3"/>
          <p:cNvPicPr/>
          <p:nvPr/>
        </p:nvPicPr>
        <p:blipFill>
          <a:blip r:embed="rId3"/>
          <a:stretch/>
        </p:blipFill>
        <p:spPr>
          <a:xfrm>
            <a:off x="2015820" y="4991026"/>
            <a:ext cx="5112360" cy="935640"/>
          </a:xfrm>
          <a:prstGeom prst="rect">
            <a:avLst/>
          </a:prstGeom>
          <a:ln w="9525">
            <a:noFill/>
          </a:ln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B6FCD523-04DF-9AC6-AAB1-04B8C269FFD0}"/>
              </a:ext>
            </a:extLst>
          </p:cNvPr>
          <p:cNvSpPr/>
          <p:nvPr/>
        </p:nvSpPr>
        <p:spPr>
          <a:xfrm>
            <a:off x="540000" y="371478"/>
            <a:ext cx="8064000" cy="499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s-ES_tradnl" sz="2800" b="0" strike="noStrike" spc="-1" dirty="0">
                <a:solidFill>
                  <a:srgbClr val="766F54"/>
                </a:solidFill>
                <a:latin typeface="Tahoma"/>
              </a:rPr>
              <a:t>NB: IMPLEMENTACIÓN PROPIA</a:t>
            </a:r>
            <a:endParaRPr lang="es-E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idx="4294967295"/>
          </p:nvPr>
        </p:nvSpPr>
        <p:spPr>
          <a:xfrm>
            <a:off x="323850" y="1208314"/>
            <a:ext cx="8496300" cy="40900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_tradnl" sz="2200" b="0" strike="noStrike" spc="-1" dirty="0" err="1">
                <a:solidFill>
                  <a:srgbClr val="0070C0"/>
                </a:solidFill>
                <a:latin typeface="Century Gothic"/>
              </a:rPr>
              <a:t>Predict</a:t>
            </a:r>
            <a:r>
              <a:rPr lang="es-ES_tradnl" sz="2200" b="0" strike="noStrike" spc="-1" dirty="0">
                <a:solidFill>
                  <a:srgbClr val="0070C0"/>
                </a:solidFill>
                <a:latin typeface="Century Gothic"/>
              </a:rPr>
              <a:t>(X)</a:t>
            </a:r>
            <a:endParaRPr lang="en-US" sz="2200" b="0" strike="noStrike" spc="-1" dirty="0">
              <a:solidFill>
                <a:srgbClr val="0070C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Devuelve para cada instancia de test, la predicción de la clase, es decir, la clase estimada a la que pertenecerá esa instancia, teniendo en cuenta los valores de sus atributos</a:t>
            </a: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El retorno de </a:t>
            </a:r>
            <a:r>
              <a:rPr lang="es-ES" sz="2200" b="0" strike="noStrike" spc="-1" dirty="0" err="1">
                <a:solidFill>
                  <a:srgbClr val="404040"/>
                </a:solidFill>
                <a:latin typeface="Century Gothic"/>
              </a:rPr>
              <a:t>predict</a:t>
            </a: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 </a:t>
            </a:r>
            <a:r>
              <a:rPr lang="es-ES" sz="2200" spc="-1" dirty="0">
                <a:solidFill>
                  <a:srgbClr val="404040"/>
                </a:solidFill>
                <a:latin typeface="Century Gothic"/>
              </a:rPr>
              <a:t>facilita la implementación del método </a:t>
            </a:r>
            <a:r>
              <a:rPr lang="es-ES" sz="2200" b="1" spc="-1" dirty="0">
                <a:solidFill>
                  <a:srgbClr val="404040"/>
                </a:solidFill>
                <a:latin typeface="Century Gothic"/>
              </a:rPr>
              <a:t>score</a:t>
            </a:r>
            <a:endParaRPr lang="en-US" sz="2200" b="1" strike="noStrike" spc="-1" dirty="0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66B2FB6-B9CB-40E4-B155-63623133F55B}"/>
              </a:ext>
            </a:extLst>
          </p:cNvPr>
          <p:cNvSpPr/>
          <p:nvPr/>
        </p:nvSpPr>
        <p:spPr>
          <a:xfrm>
            <a:off x="540000" y="371478"/>
            <a:ext cx="8064000" cy="499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s-ES_tradnl" sz="2800" b="0" strike="noStrike" spc="-1" dirty="0">
                <a:solidFill>
                  <a:srgbClr val="766F54"/>
                </a:solidFill>
                <a:latin typeface="Tahoma"/>
              </a:rPr>
              <a:t>NB: IMPLEMENTACIÓN PROPIA</a:t>
            </a:r>
            <a:endParaRPr lang="es-E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idx="4294967295"/>
          </p:nvPr>
        </p:nvSpPr>
        <p:spPr>
          <a:xfrm>
            <a:off x="323850" y="1208314"/>
            <a:ext cx="8496300" cy="40900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_tradnl" sz="2200" b="0" strike="noStrike" spc="-1" dirty="0">
                <a:solidFill>
                  <a:srgbClr val="0070C0"/>
                </a:solidFill>
                <a:latin typeface="Century Gothic"/>
              </a:rPr>
              <a:t>Score(</a:t>
            </a:r>
            <a:r>
              <a:rPr lang="es-ES_tradnl" sz="2200" b="0" strike="noStrike" spc="-1" dirty="0" err="1">
                <a:solidFill>
                  <a:srgbClr val="0070C0"/>
                </a:solidFill>
                <a:latin typeface="Century Gothic"/>
              </a:rPr>
              <a:t>X,y</a:t>
            </a:r>
            <a:r>
              <a:rPr lang="es-ES_tradnl" sz="2200" b="0" strike="noStrike" spc="-1" dirty="0">
                <a:solidFill>
                  <a:srgbClr val="0070C0"/>
                </a:solidFill>
                <a:latin typeface="Century Gothic"/>
              </a:rPr>
              <a:t>)</a:t>
            </a:r>
            <a:endParaRPr lang="en-US" sz="2200" b="0" strike="noStrike" spc="-1" dirty="0">
              <a:solidFill>
                <a:srgbClr val="0070C0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Devuelve el </a:t>
            </a:r>
            <a:r>
              <a:rPr lang="es-ES" sz="2200" b="0" strike="noStrike" spc="-1" dirty="0" err="1">
                <a:solidFill>
                  <a:srgbClr val="404040"/>
                </a:solidFill>
                <a:latin typeface="Century Gothic"/>
              </a:rPr>
              <a:t>accuracy</a:t>
            </a: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 medio del conjunto pasado,</a:t>
            </a:r>
          </a:p>
          <a:p>
            <a:pPr marL="743040" lvl="1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"/>
            </a:pP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Puedes llamar a </a:t>
            </a:r>
            <a:r>
              <a:rPr lang="es-ES" sz="2200" b="0" strike="noStrike" spc="-1" dirty="0" err="1">
                <a:solidFill>
                  <a:srgbClr val="404040"/>
                </a:solidFill>
                <a:latin typeface="Century Gothic"/>
              </a:rPr>
              <a:t>predict</a:t>
            </a: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(X) y calcular después el error comparando las clases estimadas (devueltas por </a:t>
            </a:r>
            <a:r>
              <a:rPr lang="es-ES" sz="2200" b="0" strike="noStrike" spc="-1" dirty="0" err="1">
                <a:solidFill>
                  <a:srgbClr val="404040"/>
                </a:solidFill>
                <a:latin typeface="Century Gothic"/>
              </a:rPr>
              <a:t>predict</a:t>
            </a:r>
            <a:r>
              <a:rPr lang="es-ES" sz="2200" b="0" strike="noStrike" spc="-1" dirty="0">
                <a:solidFill>
                  <a:srgbClr val="404040"/>
                </a:solidFill>
                <a:latin typeface="Century Gothic"/>
              </a:rPr>
              <a:t>) y las clases reales (pasadas en el argumento y)</a:t>
            </a:r>
            <a:endParaRPr lang="en-US" sz="2200" b="1" strike="noStrike" spc="-1" dirty="0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66B2FB6-B9CB-40E4-B155-63623133F55B}"/>
              </a:ext>
            </a:extLst>
          </p:cNvPr>
          <p:cNvSpPr/>
          <p:nvPr/>
        </p:nvSpPr>
        <p:spPr>
          <a:xfrm>
            <a:off x="540000" y="371478"/>
            <a:ext cx="8064000" cy="499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s-ES_tradnl" sz="2800" b="0" strike="noStrike" spc="-1" dirty="0">
                <a:solidFill>
                  <a:srgbClr val="766F54"/>
                </a:solidFill>
                <a:latin typeface="Tahoma"/>
              </a:rPr>
              <a:t>NB: IMPLEMENTACIÓN PROPIA</a:t>
            </a:r>
            <a:endParaRPr lang="es-ES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596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idx="4294967295"/>
          </p:nvPr>
        </p:nvSpPr>
        <p:spPr>
          <a:xfrm>
            <a:off x="432300" y="1230085"/>
            <a:ext cx="8496300" cy="425631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_tradnl" sz="2100" b="0" strike="noStrike" spc="-1" dirty="0" err="1">
                <a:solidFill>
                  <a:srgbClr val="404040"/>
                </a:solidFill>
                <a:latin typeface="Century Gothic"/>
              </a:rPr>
              <a:t>Scikit-Learn</a:t>
            </a:r>
            <a:r>
              <a:rPr lang="es-ES_tradnl" sz="2100" b="0" strike="noStrike" spc="-1" dirty="0">
                <a:solidFill>
                  <a:srgbClr val="404040"/>
                </a:solidFill>
                <a:latin typeface="Century Gothic"/>
              </a:rPr>
              <a:t> implementa diferentes variantes del algoritmo </a:t>
            </a:r>
            <a:r>
              <a:rPr lang="es-ES_tradnl" sz="2100" b="0" strike="noStrike" spc="-1" dirty="0" err="1">
                <a:solidFill>
                  <a:srgbClr val="404040"/>
                </a:solidFill>
                <a:latin typeface="Century Gothic"/>
              </a:rPr>
              <a:t>Naive</a:t>
            </a:r>
            <a:r>
              <a:rPr lang="es-ES_tradnl" sz="2100" b="0" strike="noStrike" spc="-1" dirty="0">
                <a:solidFill>
                  <a:srgbClr val="404040"/>
                </a:solidFill>
                <a:latin typeface="Century Gothic"/>
              </a:rPr>
              <a:t>-Bayes, que difieren básicamente en el cálculo de P(</a:t>
            </a:r>
            <a:r>
              <a:rPr lang="es-ES_tradnl" sz="2100" b="0" strike="noStrike" spc="-1" dirty="0" err="1">
                <a:solidFill>
                  <a:srgbClr val="404040"/>
                </a:solidFill>
                <a:latin typeface="Century Gothic"/>
              </a:rPr>
              <a:t>A</a:t>
            </a:r>
            <a:r>
              <a:rPr lang="es-ES_tradnl" sz="2100" b="0" strike="noStrike" spc="-1" baseline="-25000" dirty="0" err="1">
                <a:solidFill>
                  <a:srgbClr val="404040"/>
                </a:solidFill>
                <a:latin typeface="Century Gothic"/>
              </a:rPr>
              <a:t>i</a:t>
            </a:r>
            <a:r>
              <a:rPr lang="es-ES_tradnl" sz="2100" b="0" strike="noStrike" spc="-1" dirty="0" err="1">
                <a:solidFill>
                  <a:srgbClr val="404040"/>
                </a:solidFill>
                <a:latin typeface="Century Gothic"/>
              </a:rPr>
              <a:t>|c</a:t>
            </a:r>
            <a:r>
              <a:rPr lang="es-ES_tradnl" sz="2100" b="0" strike="noStrike" spc="-1" dirty="0">
                <a:solidFill>
                  <a:srgbClr val="404040"/>
                </a:solidFill>
                <a:latin typeface="Century Gothic"/>
              </a:rPr>
              <a:t>):</a:t>
            </a: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"/>
            </a:pPr>
            <a:r>
              <a:rPr lang="es-ES" sz="2100" b="0" strike="noStrike" spc="-1" dirty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GAUSSIAN NB</a:t>
            </a:r>
            <a:endParaRPr lang="en-US" sz="2100" b="0" strike="noStrike" spc="-1" dirty="0">
              <a:solidFill>
                <a:schemeClr val="accent6">
                  <a:lumMod val="75000"/>
                </a:schemeClr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"/>
            </a:pPr>
            <a:r>
              <a:rPr lang="es-ES" sz="2100" b="0" strike="noStrike" spc="-1" dirty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MULTINOMIAL NB</a:t>
            </a:r>
            <a:endParaRPr lang="en-US" sz="2100" b="0" strike="noStrike" spc="-1" dirty="0">
              <a:solidFill>
                <a:schemeClr val="accent6">
                  <a:lumMod val="75000"/>
                </a:schemeClr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" charset="2"/>
              <a:buChar char=""/>
            </a:pPr>
            <a:r>
              <a:rPr lang="es-ES" sz="2100" b="0" strike="noStrike" spc="-1" dirty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CATEGORICAL NB</a:t>
            </a:r>
          </a:p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100" b="0" strike="noStrike" spc="-1" dirty="0">
                <a:solidFill>
                  <a:srgbClr val="404040"/>
                </a:solidFill>
                <a:latin typeface="Century Gothic"/>
              </a:rPr>
              <a:t>Etapas:</a:t>
            </a:r>
            <a:endParaRPr lang="en-US" sz="21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1371600" indent="-457200"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_tradnl" sz="2100" b="0" strike="noStrike" spc="-1" dirty="0" err="1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GaussianNB</a:t>
            </a:r>
            <a:r>
              <a:rPr lang="es-ES_tradnl" sz="2100" b="0" strike="noStrike" spc="-1" dirty="0">
                <a:solidFill>
                  <a:srgbClr val="404040"/>
                </a:solidFill>
                <a:latin typeface="Century Gothic"/>
              </a:rPr>
              <a:t>/	           Entrenamiento: </a:t>
            </a:r>
            <a:r>
              <a:rPr lang="es-ES_tradnl" sz="2100" b="0" strike="noStrike" spc="-1" dirty="0" err="1">
                <a:solidFill>
                  <a:srgbClr val="C00000"/>
                </a:solidFill>
                <a:latin typeface="Century Gothic"/>
              </a:rPr>
              <a:t>fit</a:t>
            </a:r>
            <a:r>
              <a:rPr lang="es-ES_tradnl" sz="2100" b="0" strike="noStrike" spc="-1" dirty="0">
                <a:solidFill>
                  <a:srgbClr val="C00000"/>
                </a:solidFill>
                <a:latin typeface="Century Gothic"/>
              </a:rPr>
              <a:t> (</a:t>
            </a:r>
            <a:r>
              <a:rPr lang="es-ES_tradnl" sz="2100" b="0" strike="noStrike" spc="-1" dirty="0" err="1">
                <a:solidFill>
                  <a:srgbClr val="C00000"/>
                </a:solidFill>
                <a:latin typeface="Century Gothic"/>
              </a:rPr>
              <a:t>X_train</a:t>
            </a:r>
            <a:r>
              <a:rPr lang="es-ES_tradnl" sz="2100" b="0" strike="noStrike" spc="-1" dirty="0">
                <a:solidFill>
                  <a:srgbClr val="C00000"/>
                </a:solidFill>
                <a:latin typeface="Century Gothic"/>
              </a:rPr>
              <a:t>, </a:t>
            </a:r>
            <a:r>
              <a:rPr lang="es-ES_tradnl" sz="2100" b="0" strike="noStrike" spc="-1" dirty="0" err="1">
                <a:solidFill>
                  <a:srgbClr val="C00000"/>
                </a:solidFill>
                <a:latin typeface="Century Gothic"/>
              </a:rPr>
              <a:t>y_train</a:t>
            </a:r>
            <a:r>
              <a:rPr lang="es-ES_tradnl" sz="2100" b="0" strike="noStrike" spc="-1" dirty="0">
                <a:solidFill>
                  <a:srgbClr val="C00000"/>
                </a:solidFill>
                <a:latin typeface="Century Gothic"/>
              </a:rPr>
              <a:t>)</a:t>
            </a:r>
            <a:endParaRPr lang="en-US" sz="2100" b="0" strike="noStrike" spc="-1" dirty="0">
              <a:solidFill>
                <a:srgbClr val="C00000"/>
              </a:solidFill>
              <a:latin typeface="Century Gothic"/>
            </a:endParaRPr>
          </a:p>
          <a:p>
            <a:pPr marL="1371600" indent="-457200"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_tradnl" sz="2100" b="0" strike="noStrike" spc="-1" dirty="0" err="1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MultinomialNB</a:t>
            </a:r>
            <a:r>
              <a:rPr lang="es-ES_tradnl" sz="2100" b="0" strike="noStrike" spc="-1" dirty="0">
                <a:solidFill>
                  <a:srgbClr val="404040"/>
                </a:solidFill>
                <a:latin typeface="Century Gothic"/>
              </a:rPr>
              <a:t>/		</a:t>
            </a:r>
            <a:endParaRPr lang="en-US" sz="2100" b="0" strike="noStrike" spc="-1" dirty="0">
              <a:solidFill>
                <a:srgbClr val="404040"/>
              </a:solidFill>
              <a:latin typeface="Century Gothic"/>
            </a:endParaRPr>
          </a:p>
          <a:p>
            <a:pPr marL="1371600" indent="-457200"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_tradnl" sz="2100" b="0" strike="noStrike" spc="-1" dirty="0" err="1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CategorialNB</a:t>
            </a:r>
            <a:r>
              <a:rPr lang="es-ES_tradnl" sz="2100" b="0" strike="noStrike" spc="-1" dirty="0">
                <a:solidFill>
                  <a:srgbClr val="404040"/>
                </a:solidFill>
                <a:latin typeface="Century Gothic"/>
              </a:rPr>
              <a:t>	           Clasifica: </a:t>
            </a:r>
            <a:r>
              <a:rPr lang="es-ES_tradnl" sz="2100" b="0" strike="noStrike" spc="-1" dirty="0" err="1">
                <a:solidFill>
                  <a:srgbClr val="C00000"/>
                </a:solidFill>
                <a:latin typeface="Century Gothic"/>
              </a:rPr>
              <a:t>predict</a:t>
            </a:r>
            <a:r>
              <a:rPr lang="es-ES_tradnl" sz="2100" b="0" strike="noStrike" spc="-1" dirty="0">
                <a:solidFill>
                  <a:srgbClr val="C00000"/>
                </a:solidFill>
                <a:latin typeface="Century Gothic"/>
              </a:rPr>
              <a:t> (</a:t>
            </a:r>
            <a:r>
              <a:rPr lang="es-ES_tradnl" sz="2100" b="0" strike="noStrike" spc="-1" dirty="0" err="1">
                <a:solidFill>
                  <a:srgbClr val="C00000"/>
                </a:solidFill>
                <a:latin typeface="Century Gothic"/>
              </a:rPr>
              <a:t>X_test</a:t>
            </a:r>
            <a:r>
              <a:rPr lang="es-ES_tradnl" sz="2100" b="0" strike="noStrike" spc="-1" dirty="0">
                <a:solidFill>
                  <a:srgbClr val="C00000"/>
                </a:solidFill>
                <a:latin typeface="Century Gothic"/>
              </a:rPr>
              <a:t>)</a:t>
            </a:r>
            <a:endParaRPr lang="en-US" sz="2100" b="0" strike="noStrike" spc="-1" dirty="0">
              <a:solidFill>
                <a:srgbClr val="C00000"/>
              </a:solidFill>
              <a:latin typeface="Century Gothic"/>
            </a:endParaRPr>
          </a:p>
          <a:p>
            <a:pPr marL="1097280" indent="-457200"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strike="noStrike" spc="-1" dirty="0">
              <a:solidFill>
                <a:srgbClr val="404040"/>
              </a:solidFill>
              <a:latin typeface="Century Gothic"/>
            </a:endParaRPr>
          </a:p>
          <a:p>
            <a:endParaRPr lang="en-US" sz="2100" b="0" strike="noStrike" spc="-1" dirty="0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strike="noStrike" spc="-1" dirty="0">
              <a:solidFill>
                <a:srgbClr val="404040"/>
              </a:solidFill>
              <a:latin typeface="Century Gothic"/>
            </a:endParaRPr>
          </a:p>
          <a:p>
            <a:endParaRPr lang="en-US" sz="2100" b="0" strike="noStrike" spc="-1" dirty="0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65" name="4 Abrir llave"/>
          <p:cNvSpPr/>
          <p:nvPr/>
        </p:nvSpPr>
        <p:spPr>
          <a:xfrm>
            <a:off x="3438458" y="4075989"/>
            <a:ext cx="431640" cy="1007640"/>
          </a:xfrm>
          <a:prstGeom prst="leftBrace">
            <a:avLst>
              <a:gd name="adj1" fmla="val 45000"/>
              <a:gd name="adj2" fmla="val 50000"/>
            </a:avLst>
          </a:prstGeom>
          <a:noFill/>
          <a:ln cap="rnd">
            <a:solidFill>
              <a:srgbClr val="0070C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D26C81C-2FC6-EA24-4597-E6E37B537DAE}"/>
              </a:ext>
            </a:extLst>
          </p:cNvPr>
          <p:cNvSpPr/>
          <p:nvPr/>
        </p:nvSpPr>
        <p:spPr>
          <a:xfrm>
            <a:off x="468019" y="490239"/>
            <a:ext cx="8064000" cy="499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s-ES_tradnl" sz="2800" b="0" strike="noStrike" spc="-1" dirty="0">
                <a:solidFill>
                  <a:srgbClr val="766F54"/>
                </a:solidFill>
                <a:latin typeface="Tahoma"/>
              </a:rPr>
              <a:t>NB: SCIKIT LEARN</a:t>
            </a:r>
            <a:endParaRPr lang="es-E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1_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6124</TotalTime>
  <Words>581</Words>
  <Application>Microsoft Office PowerPoint</Application>
  <PresentationFormat>Presentación en pantalla (4:3)</PresentationFormat>
  <Paragraphs>68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Arial</vt:lpstr>
      <vt:lpstr>Century Gothic</vt:lpstr>
      <vt:lpstr>Gill Sans MT</vt:lpstr>
      <vt:lpstr>Tahoma</vt:lpstr>
      <vt:lpstr>Times New Roman</vt:lpstr>
      <vt:lpstr>Wingdings</vt:lpstr>
      <vt:lpstr>Wingdings 3</vt:lpstr>
      <vt:lpstr>Galería</vt:lpstr>
      <vt:lpstr>1_Galería</vt:lpstr>
      <vt:lpstr>NAÏVE BAYES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DATSI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web</dc:title>
  <dc:subject/>
  <dc:creator>vrobles</dc:creator>
  <dc:description/>
  <cp:lastModifiedBy>Jack Mario Mingo</cp:lastModifiedBy>
  <cp:revision>824</cp:revision>
  <dcterms:created xsi:type="dcterms:W3CDTF">2000-10-06T15:34:27Z</dcterms:created>
  <dcterms:modified xsi:type="dcterms:W3CDTF">2023-11-22T23:46:45Z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12</vt:i4>
  </property>
</Properties>
</file>